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各位老师好，我是软件工程一班的邬锦飞，学号259400232，指导教师是王欣老师。我的课题是《基于Unity的动作游戏与编辑器工具的设计与实现》，下面从选题背景开始汇报。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作游戏的核心是打击感，由判定层（命中、顿帧、硬直、削韧）和表现层（音效、特效、震屏、伤害数字）共同构成。大厂已普遍采用状态机+数据驱动+自研编辑器，而学生和小团队常见if-else堆叠、中心大球检测导致的隔空判定等问题。本课题有工程、效率、学习三层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研究动态分三方面：国内大厂已沉淀成熟经验，但学术界多研究单点技术，缺少架构与工具链的整合；国外代表产品各有可借鉴的机制；理论上，经典设计模式和引擎架构理论，加上Unity的Editor API与商业插件，验证了数据驱动加工具链路线的可行性。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研究目标是做出一个能打包运行的第三人称Demo，并配套编辑器工具。核心功能覆盖玩家操作、战斗结算、敌人AI；工具链包括技能编辑器和音效编辑器；预期产出源码、编辑器、论文和答辩材料。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系统分三层：数据层用ScriptableObject和序列化特性做数据驱动资产；逻辑层是状态机、战斗结算、技能管理和AI；表现层负责UI、音效、特效、震屏和伤害数字。编辑器工具链集中在Assets/Editor目录，与运行时程序集隔离，不进入打包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关键技术方案八个模块：玩家10态枚举状态机，位移用Root Motion避免与物理冲突；相机做帧率无关平滑；命中检测先以大球检测做对照组，再升级为武器骨骼级扫掠检测解决隔空判定和高速漏检；敌人AI是13态FSM；顿帧用引用计数防止多次重叠时timeScale恢复错乱；伤害数字和特效用对象池降低GC压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拟解决的八个关键问题覆盖了耦合、状态机与动画冲突、生命周期职责、事件泄漏、命中判定、顿帧和GC等方面。方法上采用文献研究、原型迭代、对比实验和模块化事件驱动，用EditMode单元测试和编译门禁保证质量。技术路线从输入到反馈形成完整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度从2026年7月到12月：暑期完成开题和基础战斗，9到10月做敌人AI和命中检测优化，10到11月完成技能系统和编辑器工具链，11月整合并写论文初稿，12月修改论文、录制视频、准备答辩。测试方面已实现4组EditMode测试，后续补PlayMode测试并用Profiler优化性能。以上是我的开题汇报，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45720"/>
          </a:xfrm>
          <a:prstGeom prst="rect">
            <a:avLst/>
          </a:prstGeom>
          <a:solidFill>
            <a:srgbClr val="C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822960"/>
            <a:ext cx="1737360" cy="173736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2148840"/>
            <a:ext cx="822960" cy="822960"/>
          </a:xfrm>
          <a:prstGeom prst="ellipse">
            <a:avLst/>
          </a:prstGeom>
          <a:solidFill>
            <a:srgbClr val="C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32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基于Unity的动作游戏与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编辑器工具的设计与实现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246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BFD7EE"/>
                </a:solidFill>
                <a:latin typeface="微软雅黑"/>
                <a:ea typeface="微软雅黑"/>
              </a:rPr>
              <a:t>—— 第三人称动作战斗 Demo 与可视化编辑器工具链 ——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8006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姓　　名：邬锦飞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48006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班　　级：一班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18464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学　　号：259400232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518464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指导教师：王欣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989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BFD7EE"/>
                </a:solidFill>
                <a:latin typeface="微软雅黑"/>
                <a:ea typeface="微软雅黑"/>
              </a:rPr>
              <a:t>杭州电子科技大学信息工程学院  计算机系  软件工程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4E79"/>
                </a:solidFill>
                <a:latin typeface="微软雅黑"/>
                <a:ea typeface="微软雅黑"/>
              </a:rPr>
              <a:t>选题背景与意义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74536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基于Unity的动作游戏与编辑器工具的设计与实现  |  邬锦飞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574536"/>
            <a:ext cx="457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548640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43584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动作游戏的核心竞争力：打击感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5486400" cy="214884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</a:rPr>
              <a:t>■ 判定与反馈：命中判定、顿帧、受击硬直、削韧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</a:rPr>
              <a:t>■ 表现层：音效分层、粒子特效、镜头震动、伤害数字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0">
                <a:solidFill>
                  <a:srgbClr val="262626"/>
                </a:solidFill>
                <a:latin typeface="微软雅黑"/>
                <a:ea typeface="微软雅黑"/>
              </a:rPr>
              <a:t>■ 打击感 = 可度量、可配置的工程问题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77639"/>
            <a:ext cx="5486400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32504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国内现状与痛点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34840"/>
            <a:ext cx="5486400" cy="1874519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1F4E79"/>
                </a:solidFill>
                <a:latin typeface="微软雅黑"/>
                <a:ea typeface="微软雅黑"/>
              </a:rPr>
              <a:t>■ 大厂路线：有限状态机 + 数据驱动 + 自研编辑器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– 学生/小团队常见：if-else 堆叠、角色中心大球检测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– 隔空判定、手感僵硬、策划难以参与调参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188720"/>
            <a:ext cx="5440680" cy="457200"/>
          </a:xfrm>
          <a:prstGeom prst="rect">
            <a:avLst/>
          </a:prstGeom>
          <a:solidFill>
            <a:srgbClr val="C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24358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选题意义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74519"/>
            <a:ext cx="5440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874519"/>
            <a:ext cx="128016" cy="1325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984247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工程意义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350007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把手感拆成可度量、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可配置的参数体系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429000"/>
            <a:ext cx="5440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429000"/>
            <a:ext cx="128016" cy="1325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53872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效率意义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904488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策划可视化配置，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减少反复改代码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983479"/>
            <a:ext cx="5440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983479"/>
            <a:ext cx="128016" cy="13258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093207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学习意义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458967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完整实践状态机、组件化、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编辑器扩展、测试与优化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4E79"/>
                </a:solidFill>
                <a:latin typeface="微软雅黑"/>
                <a:ea typeface="微软雅黑"/>
              </a:rPr>
              <a:t>国内外研究动态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74536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基于Unity的动作游戏与编辑器工具的设计与实现  |  邬锦飞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574536"/>
            <a:ext cx="457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361188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52728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国内研究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3611880" cy="4572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■ 腾讯、网易、米哈游等已沉淀工程经验：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– 命中反馈分层、动作取消、技能组件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– 连招配置、动画事件中继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■ 学术与毕设多集中于单点技术，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– 缺少“战斗系统整体架构 + 编辑器工具链”整合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1188720"/>
            <a:ext cx="3611880" cy="502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252728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国外产品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1691640"/>
            <a:ext cx="3611880" cy="4572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874519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■ FromSoftware（魂系）：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– 韧性、弹反、硬直帧设计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■ Capcom《鬼泣》：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– 连招评级、动作取消机制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■ 《战神》：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– 武器骨骼级命中检测、强反馈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7304" y="1188720"/>
            <a:ext cx="3611880" cy="502920"/>
          </a:xfrm>
          <a:prstGeom prst="rect">
            <a:avLst/>
          </a:prstGeom>
          <a:solidFill>
            <a:srgbClr val="C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252728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工程理论与 Unity 生态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7304" y="1691640"/>
            <a:ext cx="3611880" cy="4572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4" y="1874519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■ 设计模式与引擎理论：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– 状态 / 组件 / 观察者 / 命令模式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– 动画混合、Root Motion、扫掠体积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■ Unity 生态：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– Animator、Physics、Editor API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– 商业插件验证“数据驱动 + 工具链”可行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4E79"/>
                </a:solidFill>
                <a:latin typeface="微软雅黑"/>
                <a:ea typeface="微软雅黑"/>
              </a:rPr>
              <a:t>研究目标与主要内容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74536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基于Unity的动作游戏与编辑器工具的设计与实现  |  邬锦飞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574536"/>
            <a:ext cx="457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183112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52728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研究目标：基于 Unity + C#，实现可运行、可打包的第三人称动作战斗 Demo，并配套可视化编辑器工具链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3611880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20824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核心功能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23160"/>
            <a:ext cx="3611880" cy="384048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651760"/>
            <a:ext cx="3246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■ 玩家：移动、奔跑、攻击、连招、闪避、格挡、弹反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■ 战斗：连招推进、伤害结算、削韧、硬直、击退、无敌帧、弹反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■ 敌人：可配置的 AI 状态机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1965960"/>
            <a:ext cx="3611880" cy="457200"/>
          </a:xfrm>
          <a:prstGeom prst="rect">
            <a:avLst/>
          </a:prstGeom>
          <a:solidFill>
            <a:srgbClr val="C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2020824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工具与架构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2423160"/>
            <a:ext cx="3611880" cy="384048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651760"/>
            <a:ext cx="3246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■ 工具：技能编辑器、音效编辑器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■ 架构：事件解耦、工程结构清晰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■ 质量：必要的单元测试保障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7304" y="1965960"/>
            <a:ext cx="36118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7304" y="2020824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预期成果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7304" y="2423160"/>
            <a:ext cx="3611880" cy="384048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2651760"/>
            <a:ext cx="3246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■ 可运行 Demo、Unity 工程源码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■ 技能编辑器、音效编辑器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■ 毕业论文、设计文档、演示视频、答辩材料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4E79"/>
                </a:solidFill>
                <a:latin typeface="微软雅黑"/>
                <a:ea typeface="微软雅黑"/>
              </a:rPr>
              <a:t>系统技术框架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74536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基于Unity的动作游戏与编辑器工具的设计与实现  |  邬锦飞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574536"/>
            <a:ext cx="457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557784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43584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运行时三层架构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5778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1554480" cy="1207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12848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表现层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901952"/>
            <a:ext cx="3703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UI、伤害数字、音效、特效、镜头震动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310128"/>
            <a:ext cx="55778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310128"/>
            <a:ext cx="1554480" cy="1207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694176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逻辑层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383280"/>
            <a:ext cx="3703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玩家/敌人状态机、战斗结算、技能管理、AI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791456"/>
            <a:ext cx="55778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08A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791456"/>
            <a:ext cx="1554480" cy="1207008"/>
          </a:xfrm>
          <a:prstGeom prst="rect">
            <a:avLst/>
          </a:prstGeom>
          <a:solidFill>
            <a:srgbClr val="C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175504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数据层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864608"/>
            <a:ext cx="3703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ScriptableObject + [Serializable] +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[SerializeReference]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ComboData / EnemyConfig /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SoundLibrary / SkillLibrary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0350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95959"/>
                </a:solidFill>
                <a:latin typeface="微软雅黑"/>
                <a:ea typeface="微软雅黑"/>
              </a:rPr>
              <a:t>数据资产统一管理，实现“数据驱动”配置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solidFill>
            <a:srgbClr val="C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243584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编辑器工具链（Assets/Editor）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828800"/>
            <a:ext cx="5303520" cy="1207008"/>
          </a:xfrm>
          <a:prstGeom prst="rect">
            <a:avLst/>
          </a:prstGeom>
          <a:solidFill>
            <a:srgbClr val="EEF4FA"/>
          </a:solidFill>
          <a:ln w="12700">
            <a:solidFill>
              <a:srgbClr val="C08A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19659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技能编辑器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331720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技能组件、参数、命名、事件表格、编辑器内试听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310128"/>
            <a:ext cx="5303520" cy="1207008"/>
          </a:xfrm>
          <a:prstGeom prst="rect">
            <a:avLst/>
          </a:prstGeom>
          <a:solidFill>
            <a:srgbClr val="EEF4FA"/>
          </a:solidFill>
          <a:ln w="12700">
            <a:solidFill>
              <a:srgbClr val="C08A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44728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音效管理器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813048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音效库、前缀随机匹配、音高随机化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791456"/>
            <a:ext cx="5303520" cy="1207008"/>
          </a:xfrm>
          <a:prstGeom prst="rect">
            <a:avLst/>
          </a:prstGeom>
          <a:solidFill>
            <a:srgbClr val="EEF4FA"/>
          </a:solidFill>
          <a:ln w="12700">
            <a:solidFill>
              <a:srgbClr val="C08A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4928616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与运行时隔离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5294376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独立 Editor 程序集，不进入打包产物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4E79"/>
                </a:solidFill>
                <a:latin typeface="微软雅黑"/>
                <a:ea typeface="微软雅黑"/>
              </a:rPr>
              <a:t>关键模块与技术方案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74536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基于Unity的动作游戏与编辑器工具的设计与实现  |  邬锦飞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574536"/>
            <a:ext cx="457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2697480" cy="42062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697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玩家控制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55064"/>
            <a:ext cx="2697480" cy="196596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783080"/>
            <a:ext cx="2468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■ 枚举状态机（10 态）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■ 相机相对方向输入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■ Root Motion 位移，避免与物理移动冲突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1" y="1234440"/>
            <a:ext cx="2697480" cy="42062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1" y="1280160"/>
            <a:ext cx="2697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第三人称相机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1" y="1655064"/>
            <a:ext cx="2697480" cy="196596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7" y="1783080"/>
            <a:ext cx="2468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■ 环绕跟随、俯仰角限制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■ 帧率无关指数平滑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7064" y="1234440"/>
            <a:ext cx="2697480" cy="42062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280160"/>
            <a:ext cx="2697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命中检测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7064" y="1655064"/>
            <a:ext cx="2697480" cy="196596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783080"/>
            <a:ext cx="2468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■ 现状：角色中心球形检测（对照组）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■ 升级：武器骨骼级扫掠检测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■ 记录前后帧武器节点位置，判定方向取武器节点朝向，解决隔空判定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9136" y="1234440"/>
            <a:ext cx="2697480" cy="42062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1280160"/>
            <a:ext cx="2697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敌人 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89136" y="1655064"/>
            <a:ext cx="2697480" cy="196596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2" y="1783080"/>
            <a:ext cx="2468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■ 13 态 FSM，数据层与行为层分离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■ 处理 Animator 与代码驱动动画的切换冲突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840480"/>
            <a:ext cx="2697480" cy="42062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886200"/>
            <a:ext cx="2697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技能系统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61104"/>
            <a:ext cx="2697480" cy="196596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4389120"/>
            <a:ext cx="2468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■ 组件化技能 + 技能库资产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■ 运行时技能管理器统一调度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64991" y="3840480"/>
            <a:ext cx="2697480" cy="42062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64991" y="3886200"/>
            <a:ext cx="2697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打击感反馈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64991" y="4261104"/>
            <a:ext cx="2697480" cy="196596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7" y="4389120"/>
            <a:ext cx="2468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■ 顿帧（引用计数防 timeScale 错乱）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■ 分层命中音效、镜头震动、伤害数字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7064" y="3840480"/>
            <a:ext cx="2697480" cy="42062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27064" y="3886200"/>
            <a:ext cx="2697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音效系统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7064" y="4261104"/>
            <a:ext cx="2697480" cy="196596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389120"/>
            <a:ext cx="2468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■ SoundManager 统一管理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■ 动画事件中继器统一转发 AnimationEvent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89136" y="3840480"/>
            <a:ext cx="2697480" cy="42062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3886200"/>
            <a:ext cx="2697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性能优化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89136" y="4261104"/>
            <a:ext cx="2697480" cy="196596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17152" y="4389120"/>
            <a:ext cx="2468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■ 伤害数字、命中特效使用对象池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262626"/>
                </a:solidFill>
                <a:latin typeface="微软雅黑"/>
                <a:ea typeface="微软雅黑"/>
              </a:rPr>
              <a:t>■ 降低 GC 压力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4E79"/>
                </a:solidFill>
                <a:latin typeface="微软雅黑"/>
                <a:ea typeface="微软雅黑"/>
              </a:rPr>
              <a:t>拟解决的关键问题与研究方法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74536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基于Unity的动作游戏与编辑器工具的设计与实现  |  邬锦飞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574536"/>
            <a:ext cx="457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539496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43584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拟解决的关键问题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5394960" cy="470916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■ 数据—逻辑—表现高度耦合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■ 状态机与动画争抢位移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■ Update 与 FixedUpdate 职责不清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■ 事件订阅未成对导致泄漏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■ 动画状态名与代码引用未对齐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■ 隔空判定、高速挥砍漏检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■ 多次顿帧 timeScale 恢复错乱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■ 高频对象创建销毁带来 GC 压力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88720"/>
            <a:ext cx="5532120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43584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研究方法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645920"/>
            <a:ext cx="5532120" cy="2286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■ 文献研究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78308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Game Programming Patterns、引擎架构等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■ 原型迭代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313432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先打通 “按键→攻击→命中→掉血→反馈”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43784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■ 对比实验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84378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大球判定 vs 扫掠判定；有无顿帧/音效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74135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■ 质量保障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374135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模块化与事件驱动；EditMode 测试 + 编译门禁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114800"/>
            <a:ext cx="5532120" cy="457200"/>
          </a:xfrm>
          <a:prstGeom prst="rect">
            <a:avLst/>
          </a:prstGeom>
          <a:solidFill>
            <a:srgbClr val="C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169663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技术路线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4892040"/>
            <a:ext cx="71323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5074920"/>
            <a:ext cx="859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输入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68312" y="5234940"/>
            <a:ext cx="73152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141464" y="4892040"/>
            <a:ext cx="71323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68312" y="5074920"/>
            <a:ext cx="859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角色控制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54696" y="5234940"/>
            <a:ext cx="73152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927848" y="4892040"/>
            <a:ext cx="71323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54696" y="5074920"/>
            <a:ext cx="859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动画状态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41080" y="5234940"/>
            <a:ext cx="73152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714232" y="4892040"/>
            <a:ext cx="71323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1080" y="5074920"/>
            <a:ext cx="859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战斗技能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427464" y="5234940"/>
            <a:ext cx="73152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500616" y="4892040"/>
            <a:ext cx="71323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27464" y="5074920"/>
            <a:ext cx="859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命中判定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213848" y="5234940"/>
            <a:ext cx="73152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0287000" y="4892040"/>
            <a:ext cx="71323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13848" y="5074920"/>
            <a:ext cx="859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伤害结算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1000232" y="5234940"/>
            <a:ext cx="73152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1073384" y="4892040"/>
            <a:ext cx="71323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00232" y="5074920"/>
            <a:ext cx="859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F4E79"/>
                </a:solidFill>
                <a:latin typeface="微软雅黑"/>
                <a:ea typeface="微软雅黑"/>
              </a:rPr>
              <a:t>AI反馈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5779008"/>
            <a:ext cx="5349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95959"/>
                </a:solidFill>
                <a:latin typeface="微软雅黑"/>
                <a:ea typeface="微软雅黑"/>
              </a:rPr>
              <a:t>输入 → ThirdPersonController → PlayerLocomotion → AnimController → Combat/技能 → 判定 → TakeDamage → 事件 → AI → 反馈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4E79"/>
                </a:solidFill>
                <a:latin typeface="微软雅黑"/>
                <a:ea typeface="微软雅黑"/>
              </a:rPr>
              <a:t>进度安排与预期成果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74536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基于Unity的动作游戏与编辑器工具的设计与实现  |  邬锦飞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574536"/>
            <a:ext cx="457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694944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43584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进度安排（2026.07 — 2026.12）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965960"/>
            <a:ext cx="804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95959"/>
                </a:solidFill>
                <a:latin typeface="微软雅黑"/>
                <a:ea typeface="微软雅黑"/>
              </a:rPr>
              <a:t>07月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1965960"/>
            <a:ext cx="804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95959"/>
                </a:solidFill>
                <a:latin typeface="微软雅黑"/>
                <a:ea typeface="微软雅黑"/>
              </a:rPr>
              <a:t>08月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3944" y="1965960"/>
            <a:ext cx="804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95959"/>
                </a:solidFill>
                <a:latin typeface="微软雅黑"/>
                <a:ea typeface="微软雅黑"/>
              </a:rPr>
              <a:t>09月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8616" y="1965960"/>
            <a:ext cx="804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95959"/>
                </a:solidFill>
                <a:latin typeface="微软雅黑"/>
                <a:ea typeface="微软雅黑"/>
              </a:rPr>
              <a:t>10月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3288" y="1965960"/>
            <a:ext cx="804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95959"/>
                </a:solidFill>
                <a:latin typeface="微软雅黑"/>
                <a:ea typeface="微软雅黑"/>
              </a:rPr>
              <a:t>11月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65960"/>
            <a:ext cx="804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95959"/>
                </a:solidFill>
                <a:latin typeface="微软雅黑"/>
                <a:ea typeface="微软雅黑"/>
              </a:rPr>
              <a:t>12月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14600" y="2258568"/>
            <a:ext cx="0" cy="3364992"/>
          </a:xfrm>
          <a:prstGeom prst="line">
            <a:avLst/>
          </a:prstGeom>
          <a:ln w="9525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319272" y="2258568"/>
            <a:ext cx="0" cy="3364992"/>
          </a:xfrm>
          <a:prstGeom prst="line">
            <a:avLst/>
          </a:prstGeom>
          <a:ln w="9525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23944" y="2258568"/>
            <a:ext cx="0" cy="3364992"/>
          </a:xfrm>
          <a:prstGeom prst="line">
            <a:avLst/>
          </a:prstGeom>
          <a:ln w="9525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28616" y="2258568"/>
            <a:ext cx="0" cy="3364992"/>
          </a:xfrm>
          <a:prstGeom prst="line">
            <a:avLst/>
          </a:prstGeom>
          <a:ln w="9525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33288" y="2258568"/>
            <a:ext cx="0" cy="3364992"/>
          </a:xfrm>
          <a:prstGeom prst="line">
            <a:avLst/>
          </a:prstGeom>
          <a:ln w="9525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537960" y="2258568"/>
            <a:ext cx="0" cy="3364992"/>
          </a:xfrm>
          <a:prstGeom prst="line">
            <a:avLst/>
          </a:prstGeom>
          <a:ln w="9525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42632" y="2258568"/>
            <a:ext cx="0" cy="3364992"/>
          </a:xfrm>
          <a:prstGeom prst="line">
            <a:avLst/>
          </a:prstGeom>
          <a:ln w="9525">
            <a:solidFill>
              <a:srgbClr val="D0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233172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开题 / 前期准备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4600" y="2368296"/>
            <a:ext cx="804672" cy="2743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88036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玩家控制 / 相机 / 基础战斗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16936" y="2916936"/>
            <a:ext cx="2414016" cy="27432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42900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敌人 AI / 命中检测优化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23944" y="3465576"/>
            <a:ext cx="1609344" cy="274320"/>
          </a:xfrm>
          <a:prstGeom prst="roundRect">
            <a:avLst/>
          </a:prstGeom>
          <a:solidFill>
            <a:srgbClr val="C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977639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技能系统 / 编辑器工具链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28616" y="4014215"/>
            <a:ext cx="1609344" cy="2743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526279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系统整合 / UI / 对象池 / 论文初稿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33288" y="4562855"/>
            <a:ext cx="804672" cy="27432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07492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修改论文 / 演示视频 / 答辩准备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35624" y="5111496"/>
            <a:ext cx="1207008" cy="274320"/>
          </a:xfrm>
          <a:prstGeom prst="roundRect">
            <a:avLst/>
          </a:prstGeom>
          <a:solidFill>
            <a:srgbClr val="C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26679" y="1188720"/>
            <a:ext cx="3977639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1243584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测试与优化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26679" y="1645920"/>
            <a:ext cx="3977639" cy="210312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1783080"/>
            <a:ext cx="3657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</a:rPr>
              <a:t>■ 已实现 4 组 EditMode 测试：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262626"/>
                </a:solidFill>
                <a:latin typeface="微软雅黑"/>
                <a:ea typeface="微软雅黑"/>
              </a:rPr>
              <a:t>– 连招数据 / 配置回退、战斗计时与弹反、音效 ID 映射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</a:rPr>
              <a:t>■ 计划 PlayMode 测试：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00" b="0">
                <a:solidFill>
                  <a:srgbClr val="262626"/>
                </a:solidFill>
                <a:latin typeface="微软雅黑"/>
                <a:ea typeface="微软雅黑"/>
              </a:rPr>
              <a:t>– 状态转移、命中窗口、AI、对象池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■ Unity Profiler 定位性能瓶颈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26679" y="3977639"/>
            <a:ext cx="3977639" cy="457200"/>
          </a:xfrm>
          <a:prstGeom prst="rect">
            <a:avLst/>
          </a:prstGeom>
          <a:solidFill>
            <a:srgbClr val="C0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09560" y="4032504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预期成果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26679" y="4434840"/>
            <a:ext cx="3977639" cy="192024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572000"/>
            <a:ext cx="3657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■ 可运行 Demo 与 Unity 工程源码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■ 技能编辑器、音效编辑器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■ 毕业论文、设计文档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■ 演示视频、答辩材料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